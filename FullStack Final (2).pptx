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 id="266" r:id="rId13"/>
    <p:sldId id="269" r:id="rId14"/>
    <p:sldId id="272" r:id="rId15"/>
    <p:sldId id="267" r:id="rId16"/>
    <p:sldId id="273" r:id="rId17"/>
    <p:sldId id="275" r:id="rId18"/>
    <p:sldId id="271" r:id="rId19"/>
    <p:sldId id="276" r:id="rId20"/>
    <p:sldId id="270" r:id="rId21"/>
    <p:sldId id="265" r:id="rId22"/>
  </p:sldIdLst>
  <p:sldSz cx="18288000" cy="10287000"/>
  <p:notesSz cx="6858000" cy="9144000"/>
  <p:embeddedFontLst>
    <p:embeddedFont>
      <p:font typeface="Cambria" panose="02040503050406030204" pitchFamily="18" charset="0"/>
      <p:regular r:id="rId26"/>
      <p:bold r:id="rId27"/>
      <p:italic r:id="rId28"/>
      <p:boldItalic r:id="rId29"/>
    </p:embeddedFont>
    <p:embeddedFont>
      <p:font typeface="Bookman Old Style" panose="02050604050505020204" pitchFamily="18" charset="0"/>
      <p:regular r:id="rId30"/>
      <p:bold r:id="rId31"/>
      <p:italic r:id="rId32"/>
    </p:embeddedFont>
    <p:embeddedFont>
      <p:font typeface="Gotham"/>
      <p:regular r:id="rId33"/>
    </p:embeddedFont>
    <p:embeddedFont>
      <p:font typeface="Gotham Bold Italics" panose="02000000000000000000"/>
      <p:boldItalic r:id="rId34"/>
    </p:embeddedFont>
    <p:embeddedFont>
      <p:font typeface="Calibri" panose="020F0502020204030204"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3102" autoAdjust="0"/>
  </p:normalViewPr>
  <p:slideViewPr>
    <p:cSldViewPr showGuides="1">
      <p:cViewPr varScale="1">
        <p:scale>
          <a:sx n="43" d="100"/>
          <a:sy n="43" d="100"/>
        </p:scale>
        <p:origin x="137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font" Target="fonts/font13.fntdata"/><Relationship Id="rId37" Type="http://schemas.openxmlformats.org/officeDocument/2006/relationships/font" Target="fonts/font12.fntdata"/><Relationship Id="rId36" Type="http://schemas.openxmlformats.org/officeDocument/2006/relationships/font" Target="fonts/font11.fntdata"/><Relationship Id="rId35" Type="http://schemas.openxmlformats.org/officeDocument/2006/relationships/font" Target="fonts/font10.fntdata"/><Relationship Id="rId34" Type="http://schemas.openxmlformats.org/officeDocument/2006/relationships/font" Target="fonts/font9.fntdata"/><Relationship Id="rId33" Type="http://schemas.openxmlformats.org/officeDocument/2006/relationships/font" Target="fonts/font8.fntdata"/><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B19AB-0196-4671-B42F-B8E9E427B978}"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84FF95-BA24-489D-B141-83E9437E1DDD}"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4FF95-BA24-489D-B141-83E9437E1DDD}"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4FF95-BA24-489D-B141-83E9437E1DDD}"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4FF95-BA24-489D-B141-83E9437E1DDD}"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4FF95-BA24-489D-B141-83E9437E1DDD}"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657600" y="3897940"/>
            <a:ext cx="11190289" cy="1200329"/>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457721" y="5100455"/>
            <a:ext cx="15784162" cy="1569660"/>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PROJECT TITLE</a:t>
            </a:r>
            <a:endParaRPr lang="en-US" sz="3200" b="1" dirty="0">
              <a:solidFill>
                <a:srgbClr val="0033CC"/>
              </a:solidFill>
              <a:latin typeface="Times New Roman" panose="02020603050405020304" pitchFamily="18" charset="0"/>
              <a:cs typeface="Times New Roman" panose="02020603050405020304" pitchFamily="18" charset="0"/>
            </a:endParaRPr>
          </a:p>
          <a:p>
            <a:pPr algn="ctr"/>
            <a:r>
              <a:rPr lang="en-US" sz="3200" b="1" dirty="0">
                <a:solidFill>
                  <a:srgbClr val="0033CC"/>
                </a:solidFill>
              </a:rPr>
              <a:t>“Ticket Booking System for Internal Department Events ”</a:t>
            </a:r>
            <a:endParaRPr lang="en-US" sz="3200" dirty="0">
              <a:solidFill>
                <a:srgbClr val="0033CC"/>
              </a:solidFill>
            </a:endParaRPr>
          </a:p>
          <a:p>
            <a:pPr algn="ct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762000" y="7654414"/>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sym typeface="+mn-ea"/>
              </a:rPr>
              <a:t>K. Sumanth Reddy – VTU26845– 23UECS0253</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635045" y="7660983"/>
            <a:ext cx="6914603" cy="286131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sym typeface="+mn-ea"/>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altLang="en-GB" sz="3000" dirty="0">
                <a:latin typeface="Cambria" panose="02040503050406030204" pitchFamily="18" charset="0"/>
                <a:ea typeface="Cambria" panose="02040503050406030204" pitchFamily="18" charset="0"/>
                <a:sym typeface="+mn-ea"/>
              </a:rPr>
              <a:t>Dr. HAFIZUR RAHMAN - B.E., M.Tech., Ph.D. ASSISTANT PROFESSOR</a:t>
            </a:r>
            <a:endParaRPr lang="en-US" altLang="en-GB"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                                                                                SDG: SDG No –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8710077"/>
          </a:xfrm>
          <a:prstGeom prst="rect">
            <a:avLst/>
          </a:prstGeom>
          <a:noFill/>
        </p:spPr>
        <p:txBody>
          <a:bodyPr wrap="square" rtlCol="0">
            <a:spAutoFit/>
          </a:bodyPr>
          <a:lstStyle/>
          <a:p>
            <a:pPr indent="0">
              <a:buFontTx/>
              <a:buNone/>
            </a:pPr>
            <a:r>
              <a:rPr lang="en-US" altLang="en-US" sz="2800" b="1" dirty="0">
                <a:latin typeface="Times New Roman" panose="02020603050405020304" pitchFamily="18" charset="0"/>
                <a:cs typeface="Times New Roman" panose="02020603050405020304" pitchFamily="18" charset="0"/>
              </a:rPr>
              <a:t>Background of the Problem:</a:t>
            </a:r>
            <a:endParaRPr lang="en-US" altLang="en-US" sz="2800" dirty="0">
              <a:latin typeface="Times New Roman" panose="02020603050405020304" pitchFamily="18" charset="0"/>
              <a:cs typeface="Times New Roman" panose="02020603050405020304" pitchFamily="18" charset="0"/>
            </a:endParaRPr>
          </a:p>
          <a:p>
            <a:pPr indent="0" algn="just">
              <a:buFontTx/>
              <a:buNone/>
            </a:pPr>
            <a:r>
              <a:rPr lang="en-US" altLang="en-US" sz="2800" dirty="0">
                <a:latin typeface="Times New Roman" panose="02020603050405020304" pitchFamily="18" charset="0"/>
                <a:cs typeface="Times New Roman" panose="02020603050405020304" pitchFamily="18" charset="0"/>
              </a:rPr>
              <a:t>Traditional event ticket booking methods are often manual or semi-digital, leading to issues like long queues, data mismanagement, double bookings, and lack of transparency. Paper-based systems are time-consuming and inefficient, especially when handling multiple events and large numbers of participants.</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Why this Project is Important:</a:t>
            </a:r>
            <a:endParaRPr lang="en-US" altLang="en-US" sz="2800" b="1" dirty="0">
              <a:latin typeface="Times New Roman" panose="02020603050405020304" pitchFamily="18" charset="0"/>
              <a:cs typeface="Times New Roman" panose="02020603050405020304" pitchFamily="18" charset="0"/>
            </a:endParaRPr>
          </a:p>
          <a:p>
            <a:pPr indent="0" algn="just">
              <a:buFontTx/>
              <a:buNone/>
            </a:pPr>
            <a:r>
              <a:rPr lang="en-US" altLang="en-US" sz="2800" dirty="0">
                <a:latin typeface="Times New Roman" panose="02020603050405020304" pitchFamily="18" charset="0"/>
                <a:cs typeface="Times New Roman" panose="02020603050405020304" pitchFamily="18" charset="0"/>
              </a:rPr>
              <a:t>This project provides a digital solution to simplify and automate the ticket booking process. It reduces manual effort, minimizes errors, ensures better data management, and offers a user-friendly interface for both organizers and participants. It also promotes a paperless environment.</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Real-World Relevance:</a:t>
            </a:r>
            <a:endParaRPr lang="en-US" altLang="en-US" sz="2800" b="1" dirty="0">
              <a:latin typeface="Times New Roman" panose="02020603050405020304" pitchFamily="18" charset="0"/>
              <a:cs typeface="Times New Roman" panose="02020603050405020304" pitchFamily="18" charset="0"/>
            </a:endParaRPr>
          </a:p>
          <a:p>
            <a:pPr indent="0" algn="just">
              <a:buFontTx/>
              <a:buNone/>
            </a:pPr>
            <a:r>
              <a:rPr lang="en-US" altLang="en-US" sz="2800" dirty="0">
                <a:latin typeface="Times New Roman" panose="02020603050405020304" pitchFamily="18" charset="0"/>
                <a:cs typeface="Times New Roman" panose="02020603050405020304" pitchFamily="18" charset="0"/>
              </a:rPr>
              <a:t>Online ticket booking systems are widely used in real life for events like college fests, seminars, concerts, and workshops. This system reflects real-world applications by enabling users to book tickets anytime and anywhere, making event management more efficient and scalable.</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b="1" dirty="0">
                <a:latin typeface="Times New Roman" panose="02020603050405020304" pitchFamily="18" charset="0"/>
                <a:cs typeface="Times New Roman" panose="02020603050405020304" pitchFamily="18" charset="0"/>
              </a:rPr>
              <a:t>Brief Overview of the System:</a:t>
            </a:r>
            <a:endParaRPr lang="en-US" altLang="en-US" sz="2800" b="1" dirty="0">
              <a:latin typeface="Times New Roman" panose="02020603050405020304" pitchFamily="18" charset="0"/>
              <a:cs typeface="Times New Roman" panose="02020603050405020304" pitchFamily="18" charset="0"/>
            </a:endParaRPr>
          </a:p>
          <a:p>
            <a:pPr indent="0" algn="just">
              <a:buFontTx/>
              <a:buNone/>
            </a:pPr>
            <a:r>
              <a:rPr lang="en-US" altLang="en-US" sz="2800" dirty="0">
                <a:latin typeface="Times New Roman" panose="02020603050405020304" pitchFamily="18" charset="0"/>
                <a:cs typeface="Times New Roman" panose="02020603050405020304" pitchFamily="18" charset="0"/>
              </a:rPr>
              <a:t>The Event Ticket Booking System is a React.js-based web application that allows users to view events, select date and time, book tickets, and receive confirmation with QR codes. The system manages bookings, stores user and event data and provides features like booking history and ticket management through an interactive user interface.</a:t>
            </a:r>
            <a:endParaRPr lang="en-US" altLang="en-US" sz="2800" dirty="0">
              <a:latin typeface="Times New Roman" panose="02020603050405020304" pitchFamily="18" charset="0"/>
              <a:cs typeface="Times New Roman" panose="02020603050405020304" pitchFamily="18" charset="0"/>
            </a:endParaRP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p:cNvSpPr>
            <a:spLocks noChangeArrowheads="1"/>
          </p:cNvSpPr>
          <p:nvPr/>
        </p:nvSpPr>
        <p:spPr bwMode="auto">
          <a:xfrm>
            <a:off x="1981200" y="1741462"/>
            <a:ext cx="15087600" cy="741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event registration and ticket booking consume significant time and effort for both users and organizers.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accessibility: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may not have a centralized platform to view all upcoming department events </a:t>
            </a:r>
            <a:r>
              <a:rPr lang="en-US" altLang="en-US" sz="2800"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lang="en-US" altLang="en-US" sz="2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event management: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tracking registrations, seat availability, and participant details efficiently.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loss risk:</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or unstructured systems may lead to loss of participant and booking information.</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concerns: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data and booking details may not be handled securely in traditional systems.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real-time updates: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cannot get instant updates on ticket availability or event status.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secure and responsive web application to manage event listings, ticket booking, and user data efficiently using modern technologies like React.js.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Design &amp; develop:</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build a responsive React.js-based web application that enables users to easily browse, book, and manage tickets for internal department events (target: reduce manual registration effort by ≥50%).</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Implement &amp; evaluate: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provide real-time event updates, secure user authentication, efficient ticket management, seat availability tracking, and persistent data storage for seamless user experience across sessions.</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7417415"/>
          </a:xfrm>
          <a:prstGeom prst="rect">
            <a:avLst/>
          </a:prstGeom>
          <a:noFill/>
        </p:spPr>
        <p:txBody>
          <a:bodyPr wrap="square" rtlCol="0">
            <a:spAutoFit/>
          </a:bodyPr>
          <a:lstStyle/>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Overview:</a:t>
            </a:r>
            <a:r>
              <a:rPr lang="en-US" sz="2800" dirty="0">
                <a:latin typeface="Times New Roman" panose="02020603050405020304" pitchFamily="18" charset="0"/>
                <a:cs typeface="Times New Roman" panose="02020603050405020304" pitchFamily="18" charset="0"/>
              </a:rPr>
              <a:t> Lightweight web application that enables users to browse, book, and manage tickets for internal department events with real-time updates and secure access.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Automation:</a:t>
            </a:r>
            <a:r>
              <a:rPr lang="en-US" sz="2800" dirty="0">
                <a:latin typeface="Times New Roman" panose="02020603050405020304" pitchFamily="18" charset="0"/>
                <a:cs typeface="Times New Roman" panose="02020603050405020304" pitchFamily="18" charset="0"/>
              </a:rPr>
              <a:t> Automated event listing, ticket booking, and seat allocation reduce manual registration effort and improve event management efficiency.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Real-Time Updates:</a:t>
            </a:r>
            <a:r>
              <a:rPr lang="en-US" sz="2800" dirty="0">
                <a:latin typeface="Times New Roman" panose="02020603050405020304" pitchFamily="18" charset="0"/>
                <a:cs typeface="Times New Roman" panose="02020603050405020304" pitchFamily="18" charset="0"/>
              </a:rPr>
              <a:t> Instant updates on event availability, booking status, and seat capacity help users make quick decisions.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Secure Access:</a:t>
            </a:r>
            <a:r>
              <a:rPr lang="en-US" sz="2800" dirty="0">
                <a:latin typeface="Times New Roman" panose="02020603050405020304" pitchFamily="18" charset="0"/>
                <a:cs typeface="Times New Roman" panose="02020603050405020304" pitchFamily="18" charset="0"/>
              </a:rPr>
              <a:t> User authentication and session management ensure that only authorized users can access booking details and personal information.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Data Persistence:</a:t>
            </a:r>
            <a:r>
              <a:rPr lang="en-US" sz="2800" dirty="0">
                <a:latin typeface="Times New Roman" panose="02020603050405020304" pitchFamily="18" charset="0"/>
                <a:cs typeface="Times New Roman" panose="02020603050405020304" pitchFamily="18" charset="0"/>
              </a:rPr>
              <a:t> Event and booking data are securely stored in databases, ensuring consistency across sessions and devices.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Collaboration:</a:t>
            </a:r>
            <a:r>
              <a:rPr lang="en-US" sz="2800" dirty="0">
                <a:latin typeface="Times New Roman" panose="02020603050405020304" pitchFamily="18" charset="0"/>
                <a:cs typeface="Times New Roman" panose="02020603050405020304" pitchFamily="18" charset="0"/>
              </a:rPr>
              <a:t> Enables organizers and participants to interact efficiently, with admins managing events and users accessing bookings seamlessly.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Event Analytics:</a:t>
            </a:r>
            <a:r>
              <a:rPr lang="en-US" sz="2800" dirty="0">
                <a:latin typeface="Times New Roman" panose="02020603050405020304" pitchFamily="18" charset="0"/>
                <a:cs typeface="Times New Roman" panose="02020603050405020304" pitchFamily="18" charset="0"/>
              </a:rPr>
              <a:t> Dashboard for organizers to track registrations, monitor attendance, and analyze event participation trends. </a:t>
            </a:r>
            <a:endParaRPr lang="en-US"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b="1" dirty="0">
                <a:latin typeface="Times New Roman" panose="02020603050405020304" pitchFamily="18" charset="0"/>
                <a:cs typeface="Times New Roman" panose="02020603050405020304" pitchFamily="18" charset="0"/>
              </a:rPr>
              <a:t>Advantages over current systems:</a:t>
            </a:r>
            <a:r>
              <a:rPr lang="en-US" sz="2800" dirty="0">
                <a:latin typeface="Times New Roman" panose="02020603050405020304" pitchFamily="18" charset="0"/>
                <a:cs typeface="Times New Roman" panose="02020603050405020304" pitchFamily="18" charset="0"/>
              </a:rPr>
              <a:t> Faster booking process, reduced manual work, real-time updates, secure data handling, improved event management, and a responsive web-based solution</a:t>
            </a:r>
            <a:r>
              <a:rPr lang="en-US" sz="2800" dirty="0"/>
              <a:t>. </a:t>
            </a:r>
            <a:endParaRPr lang="en-US" sz="2800" dirty="0"/>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1828800" y="4079178"/>
            <a:ext cx="16459200" cy="637097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 :</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Users (students, participants, event organizers) interact with the system through the React-based UI:</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Enter personal details (name, email) ,Select event, date, time, and location ,Choose number of tickets ,Submit booking request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View booking history and download QR-based tickets </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Processing :</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Server-side logic (or client-side logic in your current version) handles: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Input validation (email, ticket count, required fields) ,Ticket availability check, Booking creation and updates, QR code generation for each booking ,Session handling / local storage management ,API request &amp; response handling (if backend is used).</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Database :</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stores and manages data such as: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User details (name, email) ,Booking records (event, date, time, tickets) ,Event and location details ,Ticket availability count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(Current system: uses </a:t>
            </a:r>
            <a:r>
              <a:rPr lang="en-US" sz="2400" dirty="0" err="1">
                <a:latin typeface="Times New Roman" panose="02020603050405020304" pitchFamily="18" charset="0"/>
                <a:cs typeface="Times New Roman" panose="02020603050405020304" pitchFamily="18" charset="0"/>
              </a:rPr>
              <a:t>localStorage</a:t>
            </a:r>
            <a:r>
              <a:rPr lang="en-US" sz="2400" dirty="0">
                <a:latin typeface="Times New Roman" panose="02020603050405020304" pitchFamily="18" charset="0"/>
                <a:cs typeface="Times New Roman" panose="02020603050405020304" pitchFamily="18" charset="0"/>
              </a:rPr>
              <a:t> instead of a real database) </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Output :</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provides results back to users via UI:</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Booking confirmation message ,Generated QR code for ticket validation ,Updated ticket availability count ,Booking history list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Option to delete or manage bookings</a:t>
            </a: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IN"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828800" y="266700"/>
            <a:ext cx="14630400" cy="38124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828800" y="266700"/>
            <a:ext cx="14630400" cy="975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8710077"/>
          </a:xfrm>
          <a:prstGeom prst="rect">
            <a:avLst/>
          </a:prstGeom>
          <a:noFill/>
        </p:spPr>
        <p:txBody>
          <a:bodyPr wrap="square" rtlCol="0">
            <a:spAutoFit/>
          </a:bodyPr>
          <a:lstStyle/>
          <a:p>
            <a:pPr marL="457200" indent="-457200" algn="just">
              <a:buFont typeface="Wingdings" panose="05000000000000000000" charset="0"/>
              <a:buChar char="Ø"/>
            </a:pPr>
            <a:r>
              <a:rPr lang="en-US" altLang="en-US" sz="2800" b="1" dirty="0">
                <a:latin typeface="Times New Roman" panose="02020603050405020304" pitchFamily="18" charset="0"/>
                <a:cs typeface="Times New Roman" panose="02020603050405020304" pitchFamily="18" charset="0"/>
              </a:rPr>
              <a:t>Frontend</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Built using HTML, CSS, and JavaScript for user interface.</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Provides pages like login, registration, events, and booking.</a:t>
            </a:r>
            <a:endParaRPr lang="en-US" alt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altLang="en-US" sz="2800" b="1" dirty="0">
                <a:latin typeface="Times New Roman" panose="02020603050405020304" pitchFamily="18" charset="0"/>
                <a:cs typeface="Times New Roman" panose="02020603050405020304" pitchFamily="18" charset="0"/>
              </a:rPr>
              <a:t>Backend</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Handles logic like authentication, booking, and event management.</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In this project, JavaScript (client-side) acts as backend logic.</a:t>
            </a:r>
            <a:endParaRPr lang="en-US" alt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altLang="en-US" sz="2800" b="1" dirty="0">
                <a:latin typeface="Times New Roman" panose="02020603050405020304" pitchFamily="18" charset="0"/>
                <a:cs typeface="Times New Roman" panose="02020603050405020304" pitchFamily="18" charset="0"/>
              </a:rPr>
              <a:t>Database</a:t>
            </a:r>
            <a:endParaRPr lang="en-US" altLang="en-US" sz="2800" b="1"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Stores user data, event details, and booking records.</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Uses </a:t>
            </a:r>
            <a:r>
              <a:rPr lang="en-US" altLang="en-US" sz="2800" dirty="0" err="1">
                <a:latin typeface="Times New Roman" panose="02020603050405020304" pitchFamily="18" charset="0"/>
                <a:cs typeface="Times New Roman" panose="02020603050405020304" pitchFamily="18" charset="0"/>
              </a:rPr>
              <a:t>localStorage</a:t>
            </a:r>
            <a:r>
              <a:rPr lang="en-US" altLang="en-US" sz="2800" dirty="0">
                <a:latin typeface="Times New Roman" panose="02020603050405020304" pitchFamily="18" charset="0"/>
                <a:cs typeface="Times New Roman" panose="02020603050405020304" pitchFamily="18" charset="0"/>
              </a:rPr>
              <a:t> (can be replaced with MySQL/MongoDB).</a:t>
            </a:r>
            <a:endParaRPr lang="en-US" alt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altLang="en-US" sz="2800" b="1" dirty="0">
                <a:latin typeface="Times New Roman" panose="02020603050405020304" pitchFamily="18" charset="0"/>
                <a:cs typeface="Times New Roman" panose="02020603050405020304" pitchFamily="18" charset="0"/>
              </a:rPr>
              <a:t>Third-Party API</a:t>
            </a:r>
            <a:endParaRPr lang="en-US" altLang="en-US" sz="2800" b="1"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Used for additional features like icons and fonts.</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Example: Font Awesome, Google Fonts.</a:t>
            </a:r>
            <a:endParaRPr lang="en-US" alt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altLang="en-US" sz="2800" b="1" dirty="0">
                <a:latin typeface="Times New Roman" panose="02020603050405020304" pitchFamily="18" charset="0"/>
                <a:cs typeface="Times New Roman" panose="02020603050405020304" pitchFamily="18" charset="0"/>
              </a:rPr>
              <a:t>Tools</a:t>
            </a:r>
            <a:endParaRPr lang="en-US" altLang="en-US" sz="2800" b="1"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Code editor like VS Code for development.</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Browser (Chrome) for testing and debugging.</a:t>
            </a:r>
            <a:endParaRPr lang="en-US" alt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charset="0"/>
              <a:buChar char="Ø"/>
            </a:pPr>
            <a:r>
              <a:rPr lang="en-US" altLang="en-US" sz="2800" b="1" dirty="0">
                <a:latin typeface="Times New Roman" panose="02020603050405020304" pitchFamily="18" charset="0"/>
                <a:cs typeface="Times New Roman" panose="02020603050405020304" pitchFamily="18" charset="0"/>
              </a:rPr>
              <a:t>Hardware/Software Requirements</a:t>
            </a:r>
            <a:endParaRPr lang="en-US" altLang="en-US" sz="2800" b="1"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Hardware: Computer/Laptop with internet connection.</a:t>
            </a:r>
            <a:endParaRPr lang="en-US" altLang="en-US"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Software: Web browser, OS (Windows/Linux), and code editor</a:t>
            </a:r>
            <a:r>
              <a:rPr lang="en-US" altLang="en-US" sz="2800" dirty="0"/>
              <a:t>.</a:t>
            </a:r>
            <a:endParaRPr lang="en-US" altLang="en-US" sz="2800" dirty="0"/>
          </a:p>
          <a:p>
            <a:pPr marL="457200" indent="-457200" algn="just">
              <a:buFontTx/>
              <a:buChar char="-"/>
            </a:pPr>
            <a:endParaRPr lang="en-US" sz="2800" dirty="0"/>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635007" y="1028700"/>
            <a:ext cx="16424393" cy="9694962"/>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Module 1 — User Input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Collect user details (name, email)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Select event, date, time, location, tickets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Module 2 — Booking Management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Create and store bookings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Manage ticket availability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Update/delete bookings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Module 3 — Validation &amp; Processing</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Validate inputs (email, fields)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Check ticket limits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Process booking logic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Module 4 — QR Code Generation</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Generate QR code for each booking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Used for ticket verification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Module 5 — Storage Management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Store bookings using </a:t>
            </a:r>
            <a:r>
              <a:rPr lang="en-IN" sz="2400" dirty="0" err="1">
                <a:latin typeface="Times New Roman" panose="02020603050405020304" pitchFamily="18" charset="0"/>
                <a:cs typeface="Times New Roman" panose="02020603050405020304" pitchFamily="18" charset="0"/>
              </a:rPr>
              <a:t>localStorage</a:t>
            </a:r>
            <a:r>
              <a:rPr lang="en-IN"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Maintain ticket count </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Display booking history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Delete individual bookings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Clear all bookings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 Module 6 — Output &amp; Confirmation</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Show booking confirmation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Display QR code and details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Update available tickets in real-time </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2133599" y="1485900"/>
            <a:ext cx="15418813" cy="6160457"/>
          </a:xfrm>
          <a:prstGeom prst="rect">
            <a:avLst/>
          </a:prstGeom>
        </p:spPr>
      </p:pic>
      <p:sp>
        <p:nvSpPr>
          <p:cNvPr id="2" name="TextBox 1"/>
          <p:cNvSpPr txBox="1"/>
          <p:nvPr/>
        </p:nvSpPr>
        <p:spPr>
          <a:xfrm>
            <a:off x="2142564" y="7760846"/>
            <a:ext cx="13646420" cy="3539430"/>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Homepage – </a:t>
            </a:r>
            <a:r>
              <a:rPr lang="en-US" sz="3200" b="1" dirty="0" err="1"/>
              <a:t>TechFest</a:t>
            </a:r>
            <a:r>
              <a:rPr lang="en-US" sz="3200" b="1" dirty="0"/>
              <a:t> 2026</a:t>
            </a:r>
            <a:endParaRPr lang="en-US" sz="3200" b="1" dirty="0"/>
          </a:p>
          <a:p>
            <a:pPr marL="914400" lvl="1" indent="-457200">
              <a:buFont typeface="Arial" panose="020B0604020202020204" pitchFamily="34" charset="0"/>
              <a:buChar char="•"/>
            </a:pPr>
            <a:r>
              <a:rPr lang="en-US" sz="3200" dirty="0"/>
              <a:t>Displays event title and highlights registration status. </a:t>
            </a:r>
            <a:endParaRPr lang="en-US" sz="3200" dirty="0"/>
          </a:p>
          <a:p>
            <a:pPr marL="914400" lvl="1" indent="-457200">
              <a:buFont typeface="Arial" panose="020B0604020202020204" pitchFamily="34" charset="0"/>
              <a:buChar char="•"/>
            </a:pPr>
            <a:r>
              <a:rPr lang="en-US" sz="3200" dirty="0"/>
              <a:t>Shows key details like events count and tickets available. </a:t>
            </a:r>
            <a:endParaRPr lang="en-US" sz="3200" dirty="0"/>
          </a:p>
          <a:p>
            <a:pPr marL="914400" lvl="1" indent="-457200">
              <a:buFont typeface="Arial" panose="020B0604020202020204" pitchFamily="34" charset="0"/>
              <a:buChar char="•"/>
            </a:pPr>
            <a:r>
              <a:rPr lang="en-US" sz="3200" dirty="0"/>
              <a:t>Provides options to browse events and book tickets.</a:t>
            </a:r>
            <a:endParaRPr lang="en-US" sz="3200" dirty="0"/>
          </a:p>
          <a:p>
            <a:r>
              <a:rPr lang="en-IN" sz="3200" dirty="0"/>
              <a:t>       </a:t>
            </a:r>
            <a:endParaRPr lang="en-IN" sz="3200" dirty="0"/>
          </a:p>
          <a:p>
            <a:endParaRPr lang="en-IN" sz="3200" dirty="0"/>
          </a:p>
          <a:p>
            <a:endParaRPr lang="en-IN" sz="3200" dirty="0"/>
          </a:p>
        </p:txBody>
      </p:sp>
      <p:sp>
        <p:nvSpPr>
          <p:cNvPr id="4" name="Rectangle 1"/>
          <p:cNvSpPr>
            <a:spLocks noChangeArrowheads="1"/>
          </p:cNvSpPr>
          <p:nvPr/>
        </p:nvSpPr>
        <p:spPr bwMode="auto">
          <a:xfrm>
            <a:off x="-2209800" y="1758434"/>
            <a:ext cx="15621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2286001" y="1409700"/>
            <a:ext cx="15173368" cy="79622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2209799" y="1485899"/>
            <a:ext cx="13716001" cy="6396097"/>
          </a:xfrm>
          <a:prstGeom prst="rect">
            <a:avLst/>
          </a:prstGeom>
        </p:spPr>
      </p:pic>
      <p:sp>
        <p:nvSpPr>
          <p:cNvPr id="2" name="TextBox 1"/>
          <p:cNvSpPr txBox="1"/>
          <p:nvPr/>
        </p:nvSpPr>
        <p:spPr>
          <a:xfrm>
            <a:off x="2058571" y="7881997"/>
            <a:ext cx="14170857" cy="2062103"/>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Technical Events Selection</a:t>
            </a:r>
            <a:endParaRPr lang="en-US" sz="3200" b="1" dirty="0"/>
          </a:p>
          <a:p>
            <a:pPr marL="914400" lvl="1" indent="-457200">
              <a:buFont typeface="Arial" panose="020B0604020202020204" pitchFamily="34" charset="0"/>
              <a:buChar char="•"/>
            </a:pPr>
            <a:r>
              <a:rPr lang="en-US" sz="3200" dirty="0"/>
              <a:t>Displays available technical and non-technical events with details and pricing. </a:t>
            </a:r>
            <a:endParaRPr lang="en-US" sz="3200" dirty="0"/>
          </a:p>
          <a:p>
            <a:pPr marL="914400" lvl="1" indent="-457200">
              <a:buFont typeface="Arial" panose="020B0604020202020204" pitchFamily="34" charset="0"/>
              <a:buChar char="•"/>
            </a:pPr>
            <a:r>
              <a:rPr lang="en-US" sz="3200" dirty="0"/>
              <a:t>Allows users to select events and view remaining slots. </a:t>
            </a:r>
            <a:endParaRPr lang="en-US" sz="3200" dirty="0"/>
          </a:p>
          <a:p>
            <a:pPr marL="914400" lvl="1" indent="-457200">
              <a:buFont typeface="Arial" panose="020B0604020202020204" pitchFamily="34" charset="0"/>
              <a:buChar char="•"/>
            </a:pPr>
            <a:r>
              <a:rPr lang="en-US" sz="3200" dirty="0"/>
              <a:t>Shows selected events with total cost calculation.</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2209800" y="1485901"/>
            <a:ext cx="13792200" cy="6382864"/>
          </a:xfrm>
          <a:prstGeom prst="rect">
            <a:avLst/>
          </a:prstGeom>
        </p:spPr>
      </p:pic>
      <p:sp>
        <p:nvSpPr>
          <p:cNvPr id="2" name="TextBox 1"/>
          <p:cNvSpPr txBox="1"/>
          <p:nvPr/>
        </p:nvSpPr>
        <p:spPr>
          <a:xfrm>
            <a:off x="2057400" y="7981027"/>
            <a:ext cx="14630400"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Non-Technical Events Selection </a:t>
            </a:r>
            <a:endParaRPr lang="en-US" sz="3200" b="1" dirty="0"/>
          </a:p>
          <a:p>
            <a:pPr marL="914400" lvl="1" indent="-457200">
              <a:buFont typeface="Arial" panose="020B0604020202020204" pitchFamily="34" charset="0"/>
              <a:buChar char="•"/>
            </a:pPr>
            <a:r>
              <a:rPr lang="en-US" sz="3200" dirty="0"/>
              <a:t>Displays non-technical events like games and activities with details and pricing. </a:t>
            </a:r>
            <a:endParaRPr lang="en-US" sz="3200" dirty="0"/>
          </a:p>
          <a:p>
            <a:pPr marL="914400" lvl="1" indent="-457200">
              <a:buFont typeface="Arial" panose="020B0604020202020204" pitchFamily="34" charset="0"/>
              <a:buChar char="•"/>
            </a:pPr>
            <a:r>
              <a:rPr lang="en-US" sz="3200" dirty="0"/>
              <a:t>Allows users to select events and view available slots. </a:t>
            </a:r>
            <a:endParaRPr lang="en-US" sz="3200" dirty="0"/>
          </a:p>
          <a:p>
            <a:pPr marL="914400" lvl="1" indent="-457200">
              <a:buFont typeface="Arial" panose="020B0604020202020204" pitchFamily="34" charset="0"/>
              <a:buChar char="•"/>
            </a:pPr>
            <a:r>
              <a:rPr lang="en-US" sz="3200" dirty="0"/>
              <a:t>Updates selected events list with total cost automatically.</a:t>
            </a:r>
            <a:endParaRPr lang="en-US" sz="3200" dirty="0"/>
          </a:p>
          <a:p>
            <a:endParaRPr lang="en-IN"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8(D)</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2286000" y="8033183"/>
            <a:ext cx="15240000"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Ticket Booking – User Details Form</a:t>
            </a:r>
            <a:endParaRPr lang="en-US" sz="3200" b="1" dirty="0"/>
          </a:p>
          <a:p>
            <a:pPr marL="914400" lvl="1" indent="-457200">
              <a:buFont typeface="Arial" panose="020B0604020202020204" pitchFamily="34" charset="0"/>
              <a:buChar char="•"/>
            </a:pPr>
            <a:r>
              <a:rPr lang="en-US" sz="3200" dirty="0"/>
              <a:t>Collects user information like name, email, department, and college. </a:t>
            </a:r>
            <a:endParaRPr lang="en-US" sz="3200" dirty="0"/>
          </a:p>
          <a:p>
            <a:pPr marL="914400" lvl="1" indent="-457200">
              <a:buFont typeface="Arial" panose="020B0604020202020204" pitchFamily="34" charset="0"/>
              <a:buChar char="•"/>
            </a:pPr>
            <a:r>
              <a:rPr lang="en-US" sz="3200" dirty="0"/>
              <a:t>Includes OTP verification for mobile number and ticket selection. </a:t>
            </a:r>
            <a:endParaRPr lang="en-US" sz="3200" dirty="0"/>
          </a:p>
          <a:p>
            <a:pPr marL="914400" lvl="1" indent="-457200">
              <a:buFont typeface="Arial" panose="020B0604020202020204" pitchFamily="34" charset="0"/>
              <a:buChar char="•"/>
            </a:pPr>
            <a:r>
              <a:rPr lang="en-US" sz="3200" dirty="0"/>
              <a:t>Displays selected events with total amount and confirms booking. </a:t>
            </a:r>
            <a:endParaRPr lang="en-US" sz="3200" dirty="0"/>
          </a:p>
          <a:p>
            <a:endParaRPr lang="en-IN" sz="3200" dirty="0"/>
          </a:p>
        </p:txBody>
      </p:sp>
      <p:pic>
        <p:nvPicPr>
          <p:cNvPr id="3" name="Picture 2"/>
          <p:cNvPicPr>
            <a:picLocks noChangeAspect="1"/>
          </p:cNvPicPr>
          <p:nvPr/>
        </p:nvPicPr>
        <p:blipFill>
          <a:blip r:embed="rId3"/>
          <a:stretch>
            <a:fillRect/>
          </a:stretch>
        </p:blipFill>
        <p:spPr>
          <a:xfrm>
            <a:off x="2213610" y="1560830"/>
            <a:ext cx="12821920" cy="64338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8(E)</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2362200" y="8128108"/>
            <a:ext cx="12039600"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Booking - Confirmation Page</a:t>
            </a:r>
            <a:endParaRPr lang="en-US" sz="3200" dirty="0"/>
          </a:p>
          <a:p>
            <a:pPr marL="914400" lvl="1" indent="-457200">
              <a:buFont typeface="Arial" panose="020B0604020202020204" pitchFamily="34" charset="0"/>
              <a:buChar char="•"/>
            </a:pPr>
            <a:r>
              <a:rPr lang="en-US" sz="3200" dirty="0"/>
              <a:t>Shows booking details and user information.</a:t>
            </a:r>
            <a:endParaRPr lang="en-US" sz="3200" dirty="0"/>
          </a:p>
          <a:p>
            <a:pPr marL="914400" lvl="1" indent="-457200">
              <a:buFont typeface="Arial" panose="020B0604020202020204" pitchFamily="34" charset="0"/>
              <a:buChar char="•"/>
            </a:pPr>
            <a:r>
              <a:rPr lang="en-US" sz="3200" dirty="0"/>
              <a:t>Displays total amount and selected events.</a:t>
            </a:r>
            <a:endParaRPr lang="en-US" sz="3200" dirty="0"/>
          </a:p>
          <a:p>
            <a:pPr marL="914400" lvl="1" indent="-457200">
              <a:buFont typeface="Arial" panose="020B0604020202020204" pitchFamily="34" charset="0"/>
              <a:buChar char="•"/>
            </a:pPr>
            <a:r>
              <a:rPr lang="en-US" sz="3200" dirty="0"/>
              <a:t>Provides QR code and download ticket option.</a:t>
            </a:r>
            <a:endParaRPr lang="en-US" sz="3200" dirty="0"/>
          </a:p>
          <a:p>
            <a:endParaRPr lang="en-IN" sz="3200" dirty="0"/>
          </a:p>
        </p:txBody>
      </p:sp>
      <p:pic>
        <p:nvPicPr>
          <p:cNvPr id="3" name="Picture 2"/>
          <p:cNvPicPr>
            <a:picLocks noChangeAspect="1"/>
          </p:cNvPicPr>
          <p:nvPr/>
        </p:nvPicPr>
        <p:blipFill>
          <a:blip r:embed="rId3"/>
          <a:stretch>
            <a:fillRect/>
          </a:stretch>
        </p:blipFill>
        <p:spPr>
          <a:xfrm>
            <a:off x="3140710" y="1672590"/>
            <a:ext cx="10683875" cy="64293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8(F)</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1981200" y="7892977"/>
            <a:ext cx="10896600"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Ticket Receipt Page</a:t>
            </a:r>
            <a:endParaRPr lang="en-US" sz="3200" dirty="0"/>
          </a:p>
          <a:p>
            <a:pPr marL="914400" lvl="1" indent="-457200">
              <a:buFont typeface="Arial" panose="020B0604020202020204" pitchFamily="34" charset="0"/>
              <a:buChar char="•"/>
            </a:pPr>
            <a:r>
              <a:rPr lang="en-US" sz="3200" dirty="0"/>
              <a:t>Shows complete booking details in a clean format. </a:t>
            </a:r>
            <a:endParaRPr lang="en-US" sz="3200" dirty="0"/>
          </a:p>
          <a:p>
            <a:pPr marL="914400" lvl="1" indent="-457200">
              <a:buFont typeface="Arial" panose="020B0604020202020204" pitchFamily="34" charset="0"/>
              <a:buChar char="•"/>
            </a:pPr>
            <a:r>
              <a:rPr lang="en-US" sz="3200" dirty="0"/>
              <a:t>Displays event list with category and price. </a:t>
            </a:r>
            <a:endParaRPr lang="en-US" sz="3200" dirty="0"/>
          </a:p>
          <a:p>
            <a:pPr marL="914400" lvl="1" indent="-457200">
              <a:buFont typeface="Arial" panose="020B0604020202020204" pitchFamily="34" charset="0"/>
              <a:buChar char="•"/>
            </a:pPr>
            <a:r>
              <a:rPr lang="en-US" sz="3200" dirty="0"/>
              <a:t>Includes QR code and booking ID for entry verification.</a:t>
            </a:r>
            <a:endParaRPr lang="en-US" sz="3200" dirty="0"/>
          </a:p>
          <a:p>
            <a:endParaRPr lang="en-IN" sz="3200" dirty="0"/>
          </a:p>
        </p:txBody>
      </p:sp>
      <p:pic>
        <p:nvPicPr>
          <p:cNvPr id="3" name="Picture 2"/>
          <p:cNvPicPr>
            <a:picLocks noChangeAspect="1"/>
          </p:cNvPicPr>
          <p:nvPr/>
        </p:nvPicPr>
        <p:blipFill>
          <a:blip r:embed="rId3"/>
          <a:stretch>
            <a:fillRect/>
          </a:stretch>
        </p:blipFill>
        <p:spPr>
          <a:xfrm>
            <a:off x="2428240" y="1534160"/>
            <a:ext cx="12886055" cy="63220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8(G)</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2133600" y="1374264"/>
            <a:ext cx="12254418" cy="6207636"/>
          </a:xfrm>
          <a:prstGeom prst="rect">
            <a:avLst/>
          </a:prstGeom>
        </p:spPr>
      </p:pic>
      <p:sp>
        <p:nvSpPr>
          <p:cNvPr id="2" name="TextBox 1"/>
          <p:cNvSpPr txBox="1"/>
          <p:nvPr/>
        </p:nvSpPr>
        <p:spPr>
          <a:xfrm>
            <a:off x="2120153" y="7796203"/>
            <a:ext cx="12039600"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b="1" dirty="0"/>
              <a:t>Venue &amp; Location Page</a:t>
            </a:r>
            <a:endParaRPr lang="en-US" sz="3200" dirty="0"/>
          </a:p>
          <a:p>
            <a:pPr marL="914400" lvl="1" indent="-457200">
              <a:buFont typeface="Arial" panose="020B0604020202020204" pitchFamily="34" charset="0"/>
              <a:buChar char="•"/>
            </a:pPr>
            <a:r>
              <a:rPr lang="en-US" sz="3200" dirty="0"/>
              <a:t>Shows event address and date with time. </a:t>
            </a:r>
            <a:endParaRPr lang="en-US" sz="3200" dirty="0"/>
          </a:p>
          <a:p>
            <a:pPr marL="914400" lvl="1" indent="-457200">
              <a:buFont typeface="Arial" panose="020B0604020202020204" pitchFamily="34" charset="0"/>
              <a:buChar char="•"/>
            </a:pPr>
            <a:r>
              <a:rPr lang="en-US" sz="3200" dirty="0"/>
              <a:t>Provides Google Maps directions button.</a:t>
            </a:r>
            <a:endParaRPr lang="en-US" sz="3200" dirty="0"/>
          </a:p>
          <a:p>
            <a:pPr marL="914400" lvl="1" indent="-457200">
              <a:buFont typeface="Arial" panose="020B0604020202020204" pitchFamily="34" charset="0"/>
              <a:buChar char="•"/>
            </a:pPr>
            <a:r>
              <a:rPr lang="en-US" sz="3200" dirty="0"/>
              <a:t>Displays map for easy location navigation.</a:t>
            </a:r>
            <a:endParaRPr lang="en-US" sz="3200" dirty="0"/>
          </a:p>
          <a:p>
            <a:endParaRPr lang="en-IN"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057447" y="1825370"/>
            <a:ext cx="14641669" cy="6986528"/>
          </a:xfrm>
          <a:prstGeom prst="rect">
            <a:avLst/>
          </a:prstGeom>
          <a:noFill/>
        </p:spPr>
        <p:txBody>
          <a:bodyPr wrap="square">
            <a:sp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rPr>
              <a:t>Advantages :</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Easy Booking Process:</a:t>
            </a:r>
            <a:r>
              <a:rPr lang="en-US" sz="2800" dirty="0">
                <a:latin typeface="Times New Roman" panose="02020603050405020304" pitchFamily="18" charset="0"/>
                <a:cs typeface="Times New Roman" panose="02020603050405020304" pitchFamily="18" charset="0"/>
              </a:rPr>
              <a:t> Simple interface for quick ticket booking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Real-Time Availability:</a:t>
            </a:r>
            <a:r>
              <a:rPr lang="en-US" sz="2800" dirty="0">
                <a:latin typeface="Times New Roman" panose="02020603050405020304" pitchFamily="18" charset="0"/>
                <a:cs typeface="Times New Roman" panose="02020603050405020304" pitchFamily="18" charset="0"/>
              </a:rPr>
              <a:t> Instantly updates available ticket count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QR Code Tickets:</a:t>
            </a:r>
            <a:r>
              <a:rPr lang="en-US" sz="2800" dirty="0">
                <a:latin typeface="Times New Roman" panose="02020603050405020304" pitchFamily="18" charset="0"/>
                <a:cs typeface="Times New Roman" panose="02020603050405020304" pitchFamily="18" charset="0"/>
              </a:rPr>
              <a:t> Secure and easy verification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Lightweight System:</a:t>
            </a:r>
            <a:r>
              <a:rPr lang="en-US" sz="2800" dirty="0">
                <a:latin typeface="Times New Roman" panose="02020603050405020304" pitchFamily="18" charset="0"/>
                <a:cs typeface="Times New Roman" panose="02020603050405020304" pitchFamily="18" charset="0"/>
              </a:rPr>
              <a:t> Runs directly in browser (no installation)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Instant Feedback:</a:t>
            </a:r>
            <a:r>
              <a:rPr lang="en-US" sz="2800" dirty="0">
                <a:latin typeface="Times New Roman" panose="02020603050405020304" pitchFamily="18" charset="0"/>
                <a:cs typeface="Times New Roman" panose="02020603050405020304" pitchFamily="18" charset="0"/>
              </a:rPr>
              <a:t> Shows confirmation and booking history immediately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Low Setup Cost:</a:t>
            </a:r>
            <a:r>
              <a:rPr lang="en-US" sz="2800" dirty="0">
                <a:latin typeface="Times New Roman" panose="02020603050405020304" pitchFamily="18" charset="0"/>
                <a:cs typeface="Times New Roman" panose="02020603050405020304" pitchFamily="18" charset="0"/>
              </a:rPr>
              <a:t> No server/database required (uses </a:t>
            </a:r>
            <a:r>
              <a:rPr lang="en-US" sz="2800" dirty="0" err="1">
                <a:latin typeface="Times New Roman" panose="02020603050405020304" pitchFamily="18" charset="0"/>
                <a:cs typeface="Times New Roman" panose="02020603050405020304" pitchFamily="18" charset="0"/>
              </a:rPr>
              <a:t>localStorage</a:t>
            </a:r>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2. Limitations :</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No Backend Integration:</a:t>
            </a:r>
            <a:r>
              <a:rPr lang="en-US" sz="2800" dirty="0">
                <a:latin typeface="Times New Roman" panose="02020603050405020304" pitchFamily="18" charset="0"/>
                <a:cs typeface="Times New Roman" panose="02020603050405020304" pitchFamily="18" charset="0"/>
              </a:rPr>
              <a:t> Data stored only in browser (not shared across devices)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Limited Scalability:</a:t>
            </a:r>
            <a:r>
              <a:rPr lang="en-US" sz="2800" dirty="0">
                <a:latin typeface="Times New Roman" panose="02020603050405020304" pitchFamily="18" charset="0"/>
                <a:cs typeface="Times New Roman" panose="02020603050405020304" pitchFamily="18" charset="0"/>
              </a:rPr>
              <a:t> Not suitable for large-scale or multi-user systems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Basic Security:</a:t>
            </a:r>
            <a:r>
              <a:rPr lang="en-US" sz="2800" dirty="0">
                <a:latin typeface="Times New Roman" panose="02020603050405020304" pitchFamily="18" charset="0"/>
                <a:cs typeface="Times New Roman" panose="02020603050405020304" pitchFamily="18" charset="0"/>
              </a:rPr>
              <a:t> No authentication or advanced protection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No Real-Time Sync:</a:t>
            </a:r>
            <a:r>
              <a:rPr lang="en-US" sz="2800" dirty="0">
                <a:latin typeface="Times New Roman" panose="02020603050405020304" pitchFamily="18" charset="0"/>
                <a:cs typeface="Times New Roman" panose="02020603050405020304" pitchFamily="18" charset="0"/>
              </a:rPr>
              <a:t> Multiple users cannot book simultaneously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 Loss Risk:</a:t>
            </a:r>
            <a:r>
              <a:rPr lang="en-US" sz="2800" dirty="0">
                <a:latin typeface="Times New Roman" panose="02020603050405020304" pitchFamily="18" charset="0"/>
                <a:cs typeface="Times New Roman" panose="02020603050405020304" pitchFamily="18" charset="0"/>
              </a:rPr>
              <a:t> Clearing browser storage removes all bookings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UI Enhancements Needed:</a:t>
            </a:r>
            <a:r>
              <a:rPr lang="en-US" sz="2800" dirty="0">
                <a:latin typeface="Times New Roman" panose="02020603050405020304" pitchFamily="18" charset="0"/>
                <a:cs typeface="Times New Roman" panose="02020603050405020304" pitchFamily="18" charset="0"/>
              </a:rPr>
              <a:t> Can be improved for better design and responsiveness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9718</Words>
  <Application>WPS Presentation</Application>
  <PresentationFormat>Custom</PresentationFormat>
  <Paragraphs>531</Paragraphs>
  <Slides>19</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19</vt:i4>
      </vt:variant>
    </vt:vector>
  </HeadingPairs>
  <TitlesOfParts>
    <vt:vector size="34" baseType="lpstr">
      <vt:lpstr>Arial</vt:lpstr>
      <vt:lpstr>SimSun</vt:lpstr>
      <vt:lpstr>Wingdings</vt:lpstr>
      <vt:lpstr>Cambria</vt:lpstr>
      <vt:lpstr>Bookman Old Style</vt:lpstr>
      <vt:lpstr>Times New Roman</vt:lpstr>
      <vt:lpstr>Gotham</vt:lpstr>
      <vt:lpstr>Wingdings</vt:lpstr>
      <vt:lpstr>Gotham Bold Italics</vt:lpstr>
      <vt:lpstr>Calibri</vt:lpstr>
      <vt:lpstr>Microsoft YaHei</vt:lpstr>
      <vt:lpstr>Arial Unicode MS</vt:lpstr>
      <vt:lpstr>Aptos</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faizan shaik</dc:creator>
  <cp:lastModifiedBy>Sumanth Reddy Kamini</cp:lastModifiedBy>
  <cp:revision>30</cp:revision>
  <dcterms:created xsi:type="dcterms:W3CDTF">2006-08-16T00:00:00Z</dcterms:created>
  <dcterms:modified xsi:type="dcterms:W3CDTF">2026-05-05T19:23:38Z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BB6020BC89B449C19EB7C6B97C50CA3F_12</vt:lpwstr>
  </property>
  <property fmtid="{D5CDD505-2E9C-101B-9397-08002B2CF9AE}" pid="3" name="KSOProductBuildVer">
    <vt:lpwstr>2057-12.2.0.23202</vt:lpwstr>
  </property>
</Properties>
</file>